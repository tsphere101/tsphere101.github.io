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4" r:id="rId5"/>
    <p:sldId id="262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5C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1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48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0CB6B-A5B8-B543-B50F-0B525B837310}" type="datetimeFigureOut">
              <a:rPr lang="en-TH" smtClean="0"/>
              <a:t>13/12/2024 R</a:t>
            </a:fld>
            <a:endParaRPr lang="en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95D6A-6923-9044-B03D-42B17804CB08}" type="slidenum">
              <a:rPr lang="en-TH" smtClean="0"/>
              <a:t>‹#›</a:t>
            </a:fld>
            <a:endParaRPr lang="en-TH"/>
          </a:p>
        </p:txBody>
      </p:sp>
    </p:spTree>
    <p:extLst>
      <p:ext uri="{BB962C8B-B14F-4D97-AF65-F5344CB8AC3E}">
        <p14:creationId xmlns:p14="http://schemas.microsoft.com/office/powerpoint/2010/main" val="1223884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B443-B28F-429B-8A98-3F1AB79B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9D9A4-7AFF-4701-AD6B-9CF7D9F06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3E21-EA7A-4932-863D-E1440823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60A72-D4B0-1046-B7D8-B0F169EACE9A}" type="datetime1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596F2-D16A-466A-8823-BB0EB86C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6C63-26D0-4005-9B7F-A5B3D971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D7E29D-E78B-4CAB-93E6-55CE8AFF6B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428" y="539963"/>
            <a:ext cx="2721301" cy="98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1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1721-13A2-45F3-BC00-B69732C38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AA96E-51BD-42A9-9E29-755B4690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40A9B8F6-20B7-0642-9008-4F46CF083AAD}" type="datetime1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C2243-E35A-41A5-B360-E8E51B46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BB20-4AC4-4165-B2FE-33C5A279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EAA8B1-1CD8-4CCA-8D5D-8A66C5BCA5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CDE1C8-795C-4114-8F6A-5CE49F3E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1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A2C0-F021-413A-81DA-3DA36E1D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2" y="2315418"/>
            <a:ext cx="10515600" cy="1306091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36C10-4E80-49B4-AB60-D47990A1F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712" y="364849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7793-A95D-41EA-90F9-BA32DE32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12A75910-B55D-CE48-BC83-3BEAFDF657CB}" type="datetime1">
              <a:rPr lang="en-US" smtClean="0"/>
              <a:t>12/13/24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3EC6-78B3-4A29-B694-656B2456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F0953-9452-40BF-8F76-CDE095C2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0B976B-A4FF-465F-9D0A-DA1236A0C0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022" y="286155"/>
            <a:ext cx="23145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6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8D600237-BB04-40BF-8F11-DF1FB90693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9FF0-5109-4B7A-8E5C-B33FA44EC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9BF98-7719-4943-9AE5-EE3E8E559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D66A5-65F0-4577-9C6A-4B6E5E13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BF26210E-C7CE-454F-B873-7FE7C6ED793B}" type="datetime1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6FC2F-2EC2-4D49-AFFA-417C3F12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C693-D167-4473-81F0-060ED586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693FCFB-43C4-4CFD-A5F8-951AF5CE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61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07A27B4-8C48-48BA-A185-88DC01DB51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C6957-9DE9-4B0F-BA3E-B628B823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EB2AC-ABDD-449D-9B27-6947A13E8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266F5-D5CA-4FF3-8062-D0F919520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121D6-CB7F-4AC8-8E55-12AEB3FA7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C8448-E6C2-4B6B-8ECB-8FD1F228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9F9BC99-36C2-A241-9BEF-8E0227657026}" type="datetime1">
              <a:rPr lang="en-US" smtClean="0"/>
              <a:t>12/13/24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4E75E-CF15-44BC-AA46-49E280EC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54EDF-AB64-4046-A841-C769FD65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032BFEA-1782-421D-A808-8FEFB59D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61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7FDCC-8011-4A73-A1BA-AE883F35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4194642B-3457-A24F-AB3D-AADD00C2E1A9}" type="datetime1">
              <a:rPr lang="en-US" smtClean="0"/>
              <a:t>12/13/24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911AD-85C1-4D79-8FB5-7B18EB2F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EAE58-F660-4873-99B3-5C1F2BBA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17FCF27-DFE6-45BF-8B97-455F814520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C02B6A6-26C8-4BED-87C6-DCA12346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508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42280-686F-42D9-953D-E18A6E1B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1A0928DB-0571-7848-83D2-3562DA622D0C}" type="datetime1">
              <a:rPr lang="en-US" smtClean="0"/>
              <a:t>12/13/24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D8D1D-C986-40D9-BF17-DC1720B9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DD1DB-8010-45A0-8513-0DD132E4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1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E2CC-5022-44A0-B943-E81BBEE7A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1F0BF-77BF-49E0-B2B6-F75246563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 sz="2800"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 sz="2400"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 sz="2000"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 sz="2000"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70A2E-3B92-4BD9-90DF-016DAA5CB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BB13D-2DDD-4407-82C7-C2DAAD56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F460E776-A86B-8744-9AF4-4D342632615C}" type="datetime1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3787E-B4C5-45F4-8073-9CF7919E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FBC7E-B042-45FC-8690-D6499952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8E099FC-652C-4934-917E-A186B3BF89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14CF809-E8F1-4C64-9867-A6D7E026C5F3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42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7C4C-9CE0-48FB-96F0-FC2ACC6C5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DAF1F-CAA5-41D3-BC28-488C4F9E1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86646-5BC3-4B11-9F0B-977108417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34828-6B04-4AEB-88E3-B9435C74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8DC0C9CC-3B23-D241-B519-80109A42464F}" type="datetime1">
              <a:rPr lang="en-US" smtClean="0"/>
              <a:t>12/13/24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64CF5-2ABE-4459-8437-87CCB652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4A871-4618-4134-B3A9-C604D2AA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9B80203-704A-46C9-AED0-0D199AC95B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46AD71-C27F-433F-9E42-0F2B61952FB7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5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56E2F-323D-4C6E-9975-F2788B362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5847-82F4-4FFA-8C15-BF861E82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EF668A41-0FAB-3C4A-9651-115AF861E678}" type="datetime1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A437B-30C2-4669-BC30-A768B954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DA8FB-CBEC-4DD4-9F11-266F8FED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72E1EE9-2AD5-408B-9272-770376D895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D983AA-00DF-4B90-BFA2-D00FADAF33C8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65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91473F-B276-4D83-A63E-EA562F009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48575"/>
            <a:ext cx="2628900" cy="5028388"/>
          </a:xfrm>
        </p:spPr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61843-944E-4434-B310-4526D4E2A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48575"/>
            <a:ext cx="7734300" cy="5028387"/>
          </a:xfrm>
        </p:spPr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072E5-541B-402E-B435-11929517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07F82C74-E9F9-8145-A1CC-EE130E83C735}" type="datetime1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3031E-F732-4FCD-A1D7-B6F699D7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08CDD-FF32-4653-AB76-732DF31F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48DD8EC-3596-49D0-9B92-DC43F1946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9FF1EC4-8767-4C38-9694-AA33D19F165C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27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81AEF-D596-45E0-813C-5333F97E5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C71BE-C14B-4ED1-BE1E-F42470EBE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304CB-F0D8-45FD-95B7-39B283804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28B7E-7BDE-B245-9073-B748E0C4A151}" type="datetime1">
              <a:rPr lang="en-US" smtClean="0"/>
              <a:t>12/13/24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1AC8D-52DD-434E-A5C2-0DB22466D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6AAB-B7BC-424C-869E-DF5CB2C0E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2407-5E29-4FF0-9185-718B880FA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5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AE416-C230-461B-92EF-82C009C96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73"/>
            <a:ext cx="9144000" cy="2387600"/>
          </a:xfrm>
        </p:spPr>
        <p:txBody>
          <a:bodyPr>
            <a:normAutofit/>
          </a:bodyPr>
          <a:lstStyle/>
          <a:p>
            <a:r>
              <a:rPr lang="en-US" b="0" i="0" u="none" strike="noStrike" dirty="0">
                <a:effectLst/>
              </a:rPr>
              <a:t>Quantum Optimization for the Maximum Cut Problem in Large Graphs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635AE-0D29-437A-9CD0-5EE757892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1127"/>
            <a:ext cx="9144000" cy="1655762"/>
          </a:xfrm>
        </p:spPr>
        <p:txBody>
          <a:bodyPr/>
          <a:lstStyle/>
          <a:p>
            <a:r>
              <a:rPr lang="en-US" b="0" i="0" u="none" strike="noStrike" dirty="0">
                <a:effectLst/>
              </a:rPr>
              <a:t>By Krissada Sarawit</a:t>
            </a:r>
          </a:p>
          <a:p>
            <a:r>
              <a:rPr lang="en-US" dirty="0">
                <a:effectLst/>
              </a:rPr>
              <a:t>Advisor </a:t>
            </a:r>
            <a:r>
              <a:rPr lang="en-US" dirty="0" err="1">
                <a:effectLst/>
              </a:rPr>
              <a:t>Kamonluk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Suksen</a:t>
            </a:r>
            <a:r>
              <a:rPr lang="en-US" dirty="0">
                <a:effectLst/>
              </a:rPr>
              <a:t>, Ph.D.</a:t>
            </a:r>
            <a:endParaRPr lang="en-US" b="0" i="0" u="none" strike="noStrike" dirty="0">
              <a:effectLst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5076F-63A1-9555-078E-3CCAD046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t>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389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85FBB9-302B-FD5E-9944-9B1F8C6F9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4400" b="0" i="0" u="none" strike="noStrike" dirty="0">
                <a:solidFill>
                  <a:srgbClr val="000000"/>
                </a:solidFill>
                <a:effectLst/>
              </a:rPr>
              <a:t> Motivation</a:t>
            </a:r>
          </a:p>
          <a:p>
            <a:pPr>
              <a:buFont typeface="+mj-lt"/>
              <a:buAutoNum type="arabicPeriod"/>
            </a:pPr>
            <a:r>
              <a:rPr lang="en-US" sz="4400" b="0" i="0" u="none" strike="noStrike" dirty="0">
                <a:solidFill>
                  <a:srgbClr val="000000"/>
                </a:solidFill>
                <a:effectLst/>
              </a:rPr>
              <a:t> Quantum Potential</a:t>
            </a:r>
          </a:p>
          <a:p>
            <a:pPr>
              <a:buFont typeface="+mj-lt"/>
              <a:buAutoNum type="arabicPeriod"/>
            </a:pPr>
            <a:r>
              <a:rPr lang="en-US" sz="4400" b="0" i="0" u="none" strike="noStrike" dirty="0">
                <a:solidFill>
                  <a:srgbClr val="000000"/>
                </a:solidFill>
                <a:effectLst/>
              </a:rPr>
              <a:t> Research Statement</a:t>
            </a:r>
          </a:p>
          <a:p>
            <a:pPr>
              <a:buFont typeface="+mj-lt"/>
              <a:buAutoNum type="arabicPeriod"/>
            </a:pPr>
            <a:r>
              <a:rPr lang="en-US" sz="4400" b="0" i="0" u="none" strike="noStrike" dirty="0">
                <a:solidFill>
                  <a:srgbClr val="000000"/>
                </a:solidFill>
                <a:effectLst/>
              </a:rPr>
              <a:t> Acknowledgements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0DD6E5-7F55-DC6C-3A9E-0030B416E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3898D-EE68-DA27-762D-6DE80764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721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D9975B-5033-B14A-43A1-8481B8AB6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The Maximum Cut Problem (Max-Cut)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Goal: Partition a graph’s vertices to maximize edge weights between subsets.</a:t>
            </a:r>
          </a:p>
          <a:p>
            <a:pPr marL="0" indent="0">
              <a:buNone/>
            </a:pPr>
            <a:endParaRPr lang="en-T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E5538E-3374-552B-5552-98DB356A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/>
              <a:t>Motivation</a:t>
            </a:r>
            <a:endParaRPr lang="en-T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C86C1-76A9-5C1A-F5B1-0A05C170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553463B1-075C-8512-575A-6C26921E2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882" y="2943352"/>
            <a:ext cx="6528234" cy="32336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F2FD1C-67BC-900C-C7E1-FB807D8063EF}"/>
              </a:ext>
            </a:extLst>
          </p:cNvPr>
          <p:cNvSpPr txBox="1"/>
          <p:nvPr/>
        </p:nvSpPr>
        <p:spPr>
          <a:xfrm>
            <a:off x="4648231" y="6075144"/>
            <a:ext cx="2895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H" b="0" i="0" u="none" strike="noStrike" dirty="0">
                <a:solidFill>
                  <a:srgbClr val="1C2B33"/>
                </a:solidFill>
                <a:effectLst/>
                <a:latin typeface="Optimistic"/>
              </a:rPr>
              <a:t>State Space = 2^4 = 16 states</a:t>
            </a:r>
            <a:endParaRPr lang="en-TH" dirty="0"/>
          </a:p>
          <a:p>
            <a:pPr algn="ctr"/>
            <a:r>
              <a:rPr lang="en-TH" dirty="0"/>
              <a:t>Maximum cut value = 4</a:t>
            </a:r>
          </a:p>
        </p:txBody>
      </p:sp>
    </p:spTree>
    <p:extLst>
      <p:ext uri="{BB962C8B-B14F-4D97-AF65-F5344CB8AC3E}">
        <p14:creationId xmlns:p14="http://schemas.microsoft.com/office/powerpoint/2010/main" val="3362723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599B5-DE39-1F1C-5CB4-87FED180B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687CF5-E9CD-C1FE-38B0-D614E72DE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The Maximum Cut Problem (Max-Cut)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Larger Graph: The state space grow exponentially</a:t>
            </a:r>
          </a:p>
          <a:p>
            <a:pPr marL="0" indent="0">
              <a:buNone/>
            </a:pPr>
            <a:endParaRPr lang="en-T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005B75-47B0-DC4F-A4D4-57C06AB2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/>
              <a:t>Motivation</a:t>
            </a:r>
            <a:endParaRPr lang="en-T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31A19-4F5E-BB3C-D687-A8FD3944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F9598-C4B6-632C-0EFC-0A5EB0D79D84}"/>
              </a:ext>
            </a:extLst>
          </p:cNvPr>
          <p:cNvSpPr txBox="1"/>
          <p:nvPr/>
        </p:nvSpPr>
        <p:spPr>
          <a:xfrm>
            <a:off x="4239466" y="6075144"/>
            <a:ext cx="3713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TH" b="0" i="0" u="none" strike="noStrike" dirty="0">
                <a:solidFill>
                  <a:srgbClr val="1C2B33"/>
                </a:solidFill>
                <a:effectLst/>
                <a:latin typeface="Optimistic"/>
              </a:rPr>
              <a:t>State Space = 2^20 = 1,048,576 states</a:t>
            </a:r>
            <a:endParaRPr lang="en-TH" dirty="0"/>
          </a:p>
          <a:p>
            <a:pPr algn="ctr"/>
            <a:r>
              <a:rPr lang="en-TH" dirty="0"/>
              <a:t>Maximum cut value = 37</a:t>
            </a:r>
          </a:p>
        </p:txBody>
      </p:sp>
      <p:pic>
        <p:nvPicPr>
          <p:cNvPr id="12" name="Content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DD610AA0-DA14-223C-C875-AFC666A62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716" y="2971228"/>
            <a:ext cx="6034568" cy="299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3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F2CE8E-9F65-CEF9-B636-80343BE77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Applications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Network Design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Circuit Layout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Machine Learning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Data Clustering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Challenges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Traditional methods: Effective for small/medium graphs but lack scalability.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Growing problem size: Computational limits hinder classical techniques.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EB4194-1241-424B-B71E-282C764A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CF6EBA-F57D-0D97-BB52-95D3F53E4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Motivation</a:t>
            </a:r>
          </a:p>
        </p:txBody>
      </p:sp>
    </p:spTree>
    <p:extLst>
      <p:ext uri="{BB962C8B-B14F-4D97-AF65-F5344CB8AC3E}">
        <p14:creationId xmlns:p14="http://schemas.microsoft.com/office/powerpoint/2010/main" val="529096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90497B-3EA1-4B4D-A228-1FBAEB3B7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Why Quantum Computing for Max-Cut?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Quadratic Unconstrained Binary Optimization (QUBO):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Exploits quantum properties like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superposition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 and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entanglement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Enhances exploration of solution spaces.</a:t>
            </a:r>
          </a:p>
          <a:p>
            <a:r>
              <a:rPr lang="en-US" sz="2400" dirty="0"/>
              <a:t>QAOA (Quantum Approximate Optimization Algorithm) is a hybrid quantum-classical algorithm that solves optimization problems. It uses a parameterized quantum circuit to prepare a quantum state, which is measured to estimate the objective function value, and classical optimization techniques to update parameters and minimize/maximize the objective function.</a:t>
            </a:r>
          </a:p>
          <a:p>
            <a:r>
              <a:rPr lang="en-US" sz="2400" b="0" i="0" u="none" strike="noStrike" dirty="0">
                <a:solidFill>
                  <a:srgbClr val="000000"/>
                </a:solidFill>
                <a:effectLst/>
              </a:rPr>
              <a:t>Goal: Improve scalability and efficiency for large graphs.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218072-C9F6-925B-9C97-A587D60C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Quantum Potential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96DD2-F3D4-F3C3-7FE1-4A049642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CCAE44-747F-D5C9-FE2F-8C61CDB716F5}"/>
              </a:ext>
            </a:extLst>
          </p:cNvPr>
          <p:cNvSpPr txBox="1"/>
          <p:nvPr/>
        </p:nvSpPr>
        <p:spPr>
          <a:xfrm>
            <a:off x="838200" y="6125517"/>
            <a:ext cx="780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0" u="none" strike="noStrike" dirty="0">
                <a:solidFill>
                  <a:srgbClr val="1C2B33"/>
                </a:solidFill>
                <a:effectLst/>
                <a:latin typeface="Optimistic"/>
              </a:rPr>
              <a:t>References</a:t>
            </a:r>
          </a:p>
          <a:p>
            <a:r>
              <a:rPr lang="en-US" sz="1200" b="0" i="0" u="none" strike="noStrike" dirty="0">
                <a:solidFill>
                  <a:srgbClr val="1C2B33"/>
                </a:solidFill>
                <a:effectLst/>
                <a:latin typeface="Optimistic"/>
              </a:rPr>
              <a:t>D. Rehfeldt, T. Koch and Y. </a:t>
            </a:r>
            <a:r>
              <a:rPr lang="en-US" sz="1200" b="0" i="0" u="none" strike="noStrike" dirty="0" err="1">
                <a:solidFill>
                  <a:srgbClr val="1C2B33"/>
                </a:solidFill>
                <a:effectLst/>
                <a:latin typeface="Optimistic"/>
              </a:rPr>
              <a:t>Shinano</a:t>
            </a:r>
            <a:r>
              <a:rPr lang="en-US" sz="1200" b="0" i="0" u="none" strike="noStrike" dirty="0">
                <a:solidFill>
                  <a:srgbClr val="1C2B33"/>
                </a:solidFill>
                <a:effectLst/>
                <a:latin typeface="Optimistic"/>
              </a:rPr>
              <a:t>, "Faster exact solution of sparse </a:t>
            </a:r>
            <a:r>
              <a:rPr lang="en-US" sz="1200" b="0" i="0" u="none" strike="noStrike" dirty="0" err="1">
                <a:solidFill>
                  <a:srgbClr val="1C2B33"/>
                </a:solidFill>
                <a:effectLst/>
                <a:latin typeface="Optimistic"/>
              </a:rPr>
              <a:t>MaxCut</a:t>
            </a:r>
            <a:r>
              <a:rPr lang="en-US" sz="1200" b="0" i="0" u="none" strike="noStrike" dirty="0">
                <a:solidFill>
                  <a:srgbClr val="1C2B33"/>
                </a:solidFill>
                <a:effectLst/>
                <a:latin typeface="Optimistic"/>
              </a:rPr>
              <a:t> and </a:t>
            </a:r>
            <a:r>
              <a:rPr lang="en-US" sz="1200" b="0" i="0" u="none" strike="noStrike" dirty="0" err="1">
                <a:solidFill>
                  <a:srgbClr val="1C2B33"/>
                </a:solidFill>
                <a:effectLst/>
                <a:latin typeface="Optimistic"/>
              </a:rPr>
              <a:t>QUBOproblems</a:t>
            </a:r>
            <a:r>
              <a:rPr lang="en-US" sz="1200" b="0" i="0" u="none" strike="noStrike" dirty="0">
                <a:solidFill>
                  <a:srgbClr val="1C2B33"/>
                </a:solidFill>
                <a:effectLst/>
                <a:latin typeface="Optimistic"/>
              </a:rPr>
              <a:t>," arXiv:2202.02305, 2022.</a:t>
            </a:r>
            <a:endParaRPr lang="en-TH" sz="1200" dirty="0"/>
          </a:p>
        </p:txBody>
      </p:sp>
    </p:spTree>
    <p:extLst>
      <p:ext uri="{BB962C8B-B14F-4D97-AF65-F5344CB8AC3E}">
        <p14:creationId xmlns:p14="http://schemas.microsoft.com/office/powerpoint/2010/main" val="282623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E62F8C-6C72-F8B7-E309-CAED6602D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Key Objective:</a:t>
            </a:r>
          </a:p>
          <a:p>
            <a:pPr algn="l"/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To develop QUBO-based quantum algorithms for solving the Maximum Cut problem in large graphs.</a:t>
            </a:r>
          </a:p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Focus Areas: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Enhancing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solution quality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Improving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processing efficiency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Utilizing </a:t>
            </a: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hybrid quantum-classical frameworks.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TH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507F82-8028-947B-B9F5-8A7756BD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Research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CA69B-CD7B-5C9A-0910-0F8660F4A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7DD5AE-33E9-355B-C6A1-7C782EADE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</a:rPr>
              <a:t>Special Thanks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Advisor: Dr.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Kamonluk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</a:rPr>
              <a:t>Suksen</a:t>
            </a: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Collaborators and Institutions.</a:t>
            </a:r>
          </a:p>
          <a:p>
            <a:endParaRPr lang="en-T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041FBB-88FD-FDAC-8153-4526D3F0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2C5C98-41D6-4DFB-B5B0-83D86627A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H" dirty="0"/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4288223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Chula-Template" id="{26F538F0-73E6-4E92-BC00-3520D85CC478}" vid="{1185C732-8A23-4955-95E2-AC7C590C1E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PowerpointChula-Template</Template>
  <TotalTime>367</TotalTime>
  <Words>310</Words>
  <Application>Microsoft Macintosh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CHULALONGKORN</vt:lpstr>
      <vt:lpstr>Optimistic</vt:lpstr>
      <vt:lpstr>Office Theme</vt:lpstr>
      <vt:lpstr>Quantum Optimization for the Maximum Cut Problem in Large Graphs</vt:lpstr>
      <vt:lpstr>Agenda</vt:lpstr>
      <vt:lpstr>Motivation</vt:lpstr>
      <vt:lpstr>Motivation</vt:lpstr>
      <vt:lpstr>Motivation</vt:lpstr>
      <vt:lpstr>Quantum Potential</vt:lpstr>
      <vt:lpstr>Research Statement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Tanaset Kullaptmongkol</dc:creator>
  <cp:lastModifiedBy>Krissada Sarawit</cp:lastModifiedBy>
  <cp:revision>6</cp:revision>
  <cp:lastPrinted>2024-12-13T12:24:19Z</cp:lastPrinted>
  <dcterms:created xsi:type="dcterms:W3CDTF">2020-07-20T16:56:06Z</dcterms:created>
  <dcterms:modified xsi:type="dcterms:W3CDTF">2024-12-13T16:36:52Z</dcterms:modified>
</cp:coreProperties>
</file>